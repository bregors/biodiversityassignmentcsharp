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9" r:id="rId3"/>
    <p:sldId id="259" r:id="rId4"/>
    <p:sldId id="257" r:id="rId5"/>
    <p:sldId id="260" r:id="rId6"/>
    <p:sldId id="262" r:id="rId7"/>
    <p:sldId id="263" r:id="rId8"/>
    <p:sldId id="264" r:id="rId9"/>
    <p:sldId id="283" r:id="rId10"/>
    <p:sldId id="287" r:id="rId11"/>
    <p:sldId id="261"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6" d="100"/>
          <a:sy n="146" d="100"/>
        </p:scale>
        <p:origin x="96"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04A9F-26CD-4D2F-A045-F229545D3BFA}" type="datetimeFigureOut">
              <a:rPr lang="en-GB" smtClean="0"/>
              <a:t>23/02/2022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72C84-F120-4D04-9367-FFEFBFEA7EA6}" type="slidenum">
              <a:rPr lang="en-GB" smtClean="0"/>
              <a:t>‹#›</a:t>
            </a:fld>
            <a:endParaRPr lang="en-GB"/>
          </a:p>
        </p:txBody>
      </p:sp>
    </p:spTree>
    <p:extLst>
      <p:ext uri="{BB962C8B-B14F-4D97-AF65-F5344CB8AC3E}">
        <p14:creationId xmlns:p14="http://schemas.microsoft.com/office/powerpoint/2010/main" val="419481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display-kml.appspot.com</a:t>
            </a:r>
            <a:endParaRPr lang="en-GB" dirty="0"/>
          </a:p>
        </p:txBody>
      </p:sp>
      <p:sp>
        <p:nvSpPr>
          <p:cNvPr id="4" name="Slide Number Placeholder 3"/>
          <p:cNvSpPr>
            <a:spLocks noGrp="1"/>
          </p:cNvSpPr>
          <p:nvPr>
            <p:ph type="sldNum" sz="quarter" idx="10"/>
          </p:nvPr>
        </p:nvSpPr>
        <p:spPr/>
        <p:txBody>
          <a:bodyPr/>
          <a:lstStyle/>
          <a:p>
            <a:fld id="{22F66FE0-53F4-4773-8E9B-4795F8420F22}" type="slidenum">
              <a:rPr lang="en-GB" smtClean="0">
                <a:solidFill>
                  <a:prstClr val="black"/>
                </a:solidFill>
              </a:rPr>
              <a:pPr/>
              <a:t>6</a:t>
            </a:fld>
            <a:endParaRPr lang="en-GB">
              <a:solidFill>
                <a:prstClr val="black"/>
              </a:solidFill>
            </a:endParaRPr>
          </a:p>
        </p:txBody>
      </p:sp>
    </p:spTree>
    <p:extLst>
      <p:ext uri="{BB962C8B-B14F-4D97-AF65-F5344CB8AC3E}">
        <p14:creationId xmlns:p14="http://schemas.microsoft.com/office/powerpoint/2010/main" val="179192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6306050-74AD-49C9-BC1A-06F4417A2474}" type="datetimeFigureOut">
              <a:rPr lang="en-GB" smtClean="0"/>
              <a:t>23/02/2022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263080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306050-74AD-49C9-BC1A-06F4417A2474}" type="datetimeFigureOut">
              <a:rPr lang="en-GB" smtClean="0"/>
              <a:t>23/02/2022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253354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306050-74AD-49C9-BC1A-06F4417A2474}" type="datetimeFigureOut">
              <a:rPr lang="en-GB" smtClean="0"/>
              <a:t>23/02/2022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2300006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6306050-74AD-49C9-BC1A-06F4417A2474}" type="datetimeFigureOut">
              <a:rPr lang="en-GB" smtClean="0"/>
              <a:t>23/02/2022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399339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6306050-74AD-49C9-BC1A-06F4417A2474}" type="datetimeFigureOut">
              <a:rPr lang="en-GB" smtClean="0"/>
              <a:t>23/02/2022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567918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6306050-74AD-49C9-BC1A-06F4417A2474}" type="datetimeFigureOut">
              <a:rPr lang="en-GB" smtClean="0"/>
              <a:t>23/02/2022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61828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306050-74AD-49C9-BC1A-06F4417A2474}" type="datetimeFigureOut">
              <a:rPr lang="en-GB" smtClean="0"/>
              <a:t>23/02/2022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675201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306050-74AD-49C9-BC1A-06F4417A2474}" type="datetimeFigureOut">
              <a:rPr lang="en-GB" smtClean="0"/>
              <a:t>23/02/2022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1782937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306050-74AD-49C9-BC1A-06F4417A2474}" type="datetimeFigureOut">
              <a:rPr lang="en-GB" smtClean="0"/>
              <a:t>23/02/2022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702325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306050-74AD-49C9-BC1A-06F4417A2474}" type="datetimeFigureOut">
              <a:rPr lang="en-GB" smtClean="0"/>
              <a:t>23/02/2022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4068682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306050-74AD-49C9-BC1A-06F4417A2474}" type="datetimeFigureOut">
              <a:rPr lang="en-GB" smtClean="0"/>
              <a:t>23/02/2022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410E6B-EAF3-4828-968B-AB19C23C4FDA}" type="slidenum">
              <a:rPr lang="en-GB" smtClean="0"/>
              <a:t>‹#›</a:t>
            </a:fld>
            <a:endParaRPr lang="en-GB"/>
          </a:p>
        </p:txBody>
      </p:sp>
    </p:spTree>
    <p:extLst>
      <p:ext uri="{BB962C8B-B14F-4D97-AF65-F5344CB8AC3E}">
        <p14:creationId xmlns:p14="http://schemas.microsoft.com/office/powerpoint/2010/main" val="396973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5" name="Footer Placeholder 4"/>
          <p:cNvSpPr>
            <a:spLocks noGrp="1"/>
          </p:cNvSpPr>
          <p:nvPr>
            <p:ph type="ftr" sz="quarter" idx="11"/>
          </p:nvPr>
        </p:nvSpPr>
        <p:spPr/>
        <p:txBody>
          <a:bodyPr/>
          <a:lstStyle/>
          <a:p>
            <a:endParaRPr lang="en-US" dirty="0">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38236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5" name="Footer Placeholder 4"/>
          <p:cNvSpPr>
            <a:spLocks noGrp="1"/>
          </p:cNvSpPr>
          <p:nvPr>
            <p:ph type="ftr" sz="quarter" idx="11"/>
          </p:nvPr>
        </p:nvSpPr>
        <p:spPr/>
        <p:txBody>
          <a:bodyPr/>
          <a:lstStyle/>
          <a:p>
            <a:endParaRPr lang="en-US" dirty="0">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34872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5" name="Footer Placeholder 4"/>
          <p:cNvSpPr>
            <a:spLocks noGrp="1"/>
          </p:cNvSpPr>
          <p:nvPr>
            <p:ph type="ftr" sz="quarter" idx="11"/>
          </p:nvPr>
        </p:nvSpPr>
        <p:spPr/>
        <p:txBody>
          <a:bodyPr/>
          <a:lstStyle/>
          <a:p>
            <a:endParaRPr lang="en-US" dirty="0">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87900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6" name="Footer Placeholder 5"/>
          <p:cNvSpPr>
            <a:spLocks noGrp="1"/>
          </p:cNvSpPr>
          <p:nvPr>
            <p:ph type="ftr" sz="quarter" idx="11"/>
          </p:nvPr>
        </p:nvSpPr>
        <p:spPr/>
        <p:txBody>
          <a:bodyPr/>
          <a:lstStyle/>
          <a:p>
            <a:endParaRPr lang="en-US" dirty="0">
              <a:solidFill>
                <a:srgbClr val="DFDCB7"/>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27187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8" name="Footer Placeholder 7"/>
          <p:cNvSpPr>
            <a:spLocks noGrp="1"/>
          </p:cNvSpPr>
          <p:nvPr>
            <p:ph type="ftr" sz="quarter" idx="11"/>
          </p:nvPr>
        </p:nvSpPr>
        <p:spPr/>
        <p:txBody>
          <a:bodyPr/>
          <a:lstStyle/>
          <a:p>
            <a:endParaRPr lang="en-US" dirty="0">
              <a:solidFill>
                <a:srgbClr val="DFDCB7"/>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086502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4" name="Footer Placeholder 3"/>
          <p:cNvSpPr>
            <a:spLocks noGrp="1"/>
          </p:cNvSpPr>
          <p:nvPr>
            <p:ph type="ftr" sz="quarter" idx="11"/>
          </p:nvPr>
        </p:nvSpPr>
        <p:spPr/>
        <p:txBody>
          <a:bodyPr/>
          <a:lstStyle/>
          <a:p>
            <a:endParaRPr lang="en-US" dirty="0">
              <a:solidFill>
                <a:srgbClr val="DFDCB7"/>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3209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3" name="Footer Placeholder 2"/>
          <p:cNvSpPr>
            <a:spLocks noGrp="1"/>
          </p:cNvSpPr>
          <p:nvPr>
            <p:ph type="ftr" sz="quarter" idx="11"/>
          </p:nvPr>
        </p:nvSpPr>
        <p:spPr/>
        <p:txBody>
          <a:bodyPr/>
          <a:lstStyle/>
          <a:p>
            <a:endParaRPr lang="en-US" dirty="0">
              <a:solidFill>
                <a:srgbClr val="DFDCB7"/>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336649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6" name="Footer Placeholder 5"/>
          <p:cNvSpPr>
            <a:spLocks noGrp="1"/>
          </p:cNvSpPr>
          <p:nvPr>
            <p:ph type="ftr" sz="quarter" idx="11"/>
          </p:nvPr>
        </p:nvSpPr>
        <p:spPr/>
        <p:txBody>
          <a:bodyPr/>
          <a:lstStyle/>
          <a:p>
            <a:endParaRPr lang="en-US" dirty="0">
              <a:solidFill>
                <a:srgbClr val="DFDCB7"/>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3527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solidFill>
                <a:srgbClr val="DFDCB7"/>
              </a:solidFill>
            </a:endParaRPr>
          </a:p>
        </p:txBody>
      </p:sp>
    </p:spTree>
    <p:extLst>
      <p:ext uri="{BB962C8B-B14F-4D97-AF65-F5344CB8AC3E}">
        <p14:creationId xmlns:p14="http://schemas.microsoft.com/office/powerpoint/2010/main" val="3716228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5" name="Footer Placeholder 4"/>
          <p:cNvSpPr>
            <a:spLocks noGrp="1"/>
          </p:cNvSpPr>
          <p:nvPr>
            <p:ph type="ftr" sz="quarter" idx="11"/>
          </p:nvPr>
        </p:nvSpPr>
        <p:spPr/>
        <p:txBody>
          <a:bodyPr/>
          <a:lstStyle/>
          <a:p>
            <a:endParaRPr lang="en-US" dirty="0">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203041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DFDCB7"/>
                </a:solidFill>
              </a:rPr>
              <a:pPr/>
              <a:t>2/23/2022</a:t>
            </a:fld>
            <a:endParaRPr lang="en-US" dirty="0">
              <a:solidFill>
                <a:srgbClr val="DFDCB7"/>
              </a:solidFill>
            </a:endParaRPr>
          </a:p>
        </p:txBody>
      </p:sp>
      <p:sp>
        <p:nvSpPr>
          <p:cNvPr id="5" name="Footer Placeholder 4"/>
          <p:cNvSpPr>
            <a:spLocks noGrp="1"/>
          </p:cNvSpPr>
          <p:nvPr>
            <p:ph type="ftr" sz="quarter" idx="11"/>
          </p:nvPr>
        </p:nvSpPr>
        <p:spPr/>
        <p:txBody>
          <a:bodyPr/>
          <a:lstStyle/>
          <a:p>
            <a:endParaRPr lang="en-US" dirty="0">
              <a:solidFill>
                <a:srgbClr val="DFDCB7"/>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68928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306050-74AD-49C9-BC1A-06F4417A2474}" type="datetimeFigureOut">
              <a:rPr lang="en-GB" smtClean="0"/>
              <a:t>23/02/2022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410E6B-EAF3-4828-968B-AB19C23C4FDA}" type="slidenum">
              <a:rPr lang="en-GB" smtClean="0"/>
              <a:t>‹#›</a:t>
            </a:fld>
            <a:endParaRPr lang="en-GB"/>
          </a:p>
        </p:txBody>
      </p:sp>
    </p:spTree>
    <p:extLst>
      <p:ext uri="{BB962C8B-B14F-4D97-AF65-F5344CB8AC3E}">
        <p14:creationId xmlns:p14="http://schemas.microsoft.com/office/powerpoint/2010/main" val="2518531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FFFFFF"/>
              </a:solidFill>
            </a:endParaRPr>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dirty="0"/>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US" dirty="0">
              <a:solidFill>
                <a:srgbClr val="DFDCB7"/>
              </a:solidFill>
            </a:endParaRP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solidFill>
                  <a:srgbClr val="DFDCB7"/>
                </a:solidFill>
              </a:rPr>
              <a:pPr/>
              <a:t>2/23/2022</a:t>
            </a:fld>
            <a:endParaRPr lang="en-US" dirty="0">
              <a:solidFill>
                <a:srgbClr val="DFDCB7"/>
              </a:solidFill>
            </a:endParaRPr>
          </a:p>
        </p:txBody>
      </p:sp>
    </p:spTree>
    <p:extLst>
      <p:ext uri="{BB962C8B-B14F-4D97-AF65-F5344CB8AC3E}">
        <p14:creationId xmlns:p14="http://schemas.microsoft.com/office/powerpoint/2010/main" val="23661327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3.xml"/><Relationship Id="rId4" Type="http://schemas.openxmlformats.org/officeDocument/2006/relationships/hyperlink" Target="mailto:A.Meade@Reading.ac.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hyperlink" Target="https://www.androidauthority.com/python-function-call-1121793/"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Biodiversity Assignment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33" y="1836474"/>
            <a:ext cx="5353050" cy="314325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3615" y="1836474"/>
            <a:ext cx="4247521" cy="2884775"/>
          </a:xfrm>
          <a:prstGeom prst="rect">
            <a:avLst/>
          </a:prstGeom>
        </p:spPr>
      </p:pic>
      <p:sp>
        <p:nvSpPr>
          <p:cNvPr id="6" name="Subtitle 2">
            <a:extLst>
              <a:ext uri="{FF2B5EF4-FFF2-40B4-BE49-F238E27FC236}">
                <a16:creationId xmlns:a16="http://schemas.microsoft.com/office/drawing/2014/main" id="{234D8841-7E45-4270-A479-9B4720BAFD52}"/>
              </a:ext>
            </a:extLst>
          </p:cNvPr>
          <p:cNvSpPr txBox="1">
            <a:spLocks/>
          </p:cNvSpPr>
          <p:nvPr/>
        </p:nvSpPr>
        <p:spPr>
          <a:xfrm>
            <a:off x="609600" y="5316583"/>
            <a:ext cx="6461760" cy="10668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GB"/>
              <a:t>Andrew Meade</a:t>
            </a:r>
          </a:p>
          <a:p>
            <a:r>
              <a:rPr lang="en-GB">
                <a:hlinkClick r:id="rId4"/>
              </a:rPr>
              <a:t>A.Meade@Reading.ac.uk</a:t>
            </a:r>
            <a:endParaRPr lang="en-GB"/>
          </a:p>
          <a:p>
            <a:endParaRPr lang="en-GB" dirty="0"/>
          </a:p>
        </p:txBody>
      </p:sp>
    </p:spTree>
    <p:extLst>
      <p:ext uri="{BB962C8B-B14F-4D97-AF65-F5344CB8AC3E}">
        <p14:creationId xmlns:p14="http://schemas.microsoft.com/office/powerpoint/2010/main" val="2809282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Living Planet Index (LPI)</a:t>
            </a:r>
            <a:br>
              <a:rPr lang="en-GB" dirty="0"/>
            </a:br>
            <a:r>
              <a:rPr lang="en-GB" dirty="0"/>
              <a:t>1970 – 2018*</a:t>
            </a:r>
          </a:p>
        </p:txBody>
      </p:sp>
      <p:sp>
        <p:nvSpPr>
          <p:cNvPr id="4" name="TextBox 3">
            <a:extLst>
              <a:ext uri="{FF2B5EF4-FFF2-40B4-BE49-F238E27FC236}">
                <a16:creationId xmlns:a16="http://schemas.microsoft.com/office/drawing/2014/main" id="{56D25470-4A62-4CC2-BAF8-CC4E8FFCF15B}"/>
              </a:ext>
            </a:extLst>
          </p:cNvPr>
          <p:cNvSpPr txBox="1"/>
          <p:nvPr/>
        </p:nvSpPr>
        <p:spPr>
          <a:xfrm>
            <a:off x="352641" y="6286519"/>
            <a:ext cx="3877985" cy="369332"/>
          </a:xfrm>
          <a:prstGeom prst="rect">
            <a:avLst/>
          </a:prstGeom>
          <a:noFill/>
        </p:spPr>
        <p:txBody>
          <a:bodyPr wrap="none" rtlCol="0">
            <a:spAutoFit/>
          </a:bodyPr>
          <a:lstStyle/>
          <a:p>
            <a:r>
              <a:rPr lang="en-GB" dirty="0"/>
              <a:t>*WWF - LIVING PLANET REPORT 2020	</a:t>
            </a:r>
          </a:p>
        </p:txBody>
      </p:sp>
      <p:sp>
        <p:nvSpPr>
          <p:cNvPr id="6" name="TextBox 5">
            <a:extLst>
              <a:ext uri="{FF2B5EF4-FFF2-40B4-BE49-F238E27FC236}">
                <a16:creationId xmlns:a16="http://schemas.microsoft.com/office/drawing/2014/main" id="{09835FDD-15B2-4B2C-8A78-7F8116190D8D}"/>
              </a:ext>
            </a:extLst>
          </p:cNvPr>
          <p:cNvSpPr txBox="1"/>
          <p:nvPr/>
        </p:nvSpPr>
        <p:spPr>
          <a:xfrm rot="16200000">
            <a:off x="-1215288" y="3155171"/>
            <a:ext cx="3135858" cy="461665"/>
          </a:xfrm>
          <a:prstGeom prst="rect">
            <a:avLst/>
          </a:prstGeom>
          <a:noFill/>
        </p:spPr>
        <p:txBody>
          <a:bodyPr wrap="none" rtlCol="0">
            <a:spAutoFit/>
          </a:bodyPr>
          <a:lstStyle/>
          <a:p>
            <a:r>
              <a:rPr lang="en-GB" sz="2400" dirty="0"/>
              <a:t>Living Planet Index (LPI)</a:t>
            </a:r>
          </a:p>
        </p:txBody>
      </p:sp>
      <p:sp>
        <p:nvSpPr>
          <p:cNvPr id="7" name="TextBox 6">
            <a:extLst>
              <a:ext uri="{FF2B5EF4-FFF2-40B4-BE49-F238E27FC236}">
                <a16:creationId xmlns:a16="http://schemas.microsoft.com/office/drawing/2014/main" id="{90202145-4D52-433C-9CED-5D01532F552A}"/>
              </a:ext>
            </a:extLst>
          </p:cNvPr>
          <p:cNvSpPr txBox="1"/>
          <p:nvPr/>
        </p:nvSpPr>
        <p:spPr>
          <a:xfrm>
            <a:off x="7709535" y="6286519"/>
            <a:ext cx="3139001" cy="369332"/>
          </a:xfrm>
          <a:prstGeom prst="rect">
            <a:avLst/>
          </a:prstGeom>
          <a:noFill/>
        </p:spPr>
        <p:txBody>
          <a:bodyPr wrap="none" rtlCol="0">
            <a:spAutoFit/>
          </a:bodyPr>
          <a:lstStyle/>
          <a:p>
            <a:r>
              <a:rPr lang="en-GB" dirty="0"/>
              <a:t>68% Global decline 1970 - 2016</a:t>
            </a:r>
          </a:p>
        </p:txBody>
      </p:sp>
      <p:pic>
        <p:nvPicPr>
          <p:cNvPr id="10" name="Picture 9">
            <a:extLst>
              <a:ext uri="{FF2B5EF4-FFF2-40B4-BE49-F238E27FC236}">
                <a16:creationId xmlns:a16="http://schemas.microsoft.com/office/drawing/2014/main" id="{4998E4C1-D324-4A32-885A-59D1F4213E6A}"/>
              </a:ext>
            </a:extLst>
          </p:cNvPr>
          <p:cNvPicPr>
            <a:picLocks noChangeAspect="1"/>
          </p:cNvPicPr>
          <p:nvPr/>
        </p:nvPicPr>
        <p:blipFill>
          <a:blip r:embed="rId2"/>
          <a:stretch>
            <a:fillRect/>
          </a:stretch>
        </p:blipFill>
        <p:spPr>
          <a:xfrm>
            <a:off x="542653" y="1779403"/>
            <a:ext cx="10555061" cy="3964778"/>
          </a:xfrm>
          <a:prstGeom prst="rect">
            <a:avLst/>
          </a:prstGeom>
        </p:spPr>
      </p:pic>
      <p:sp>
        <p:nvSpPr>
          <p:cNvPr id="11" name="TextBox 10">
            <a:extLst>
              <a:ext uri="{FF2B5EF4-FFF2-40B4-BE49-F238E27FC236}">
                <a16:creationId xmlns:a16="http://schemas.microsoft.com/office/drawing/2014/main" id="{53449984-44CF-4E7F-BACF-17EA3A21A179}"/>
              </a:ext>
            </a:extLst>
          </p:cNvPr>
          <p:cNvSpPr txBox="1"/>
          <p:nvPr/>
        </p:nvSpPr>
        <p:spPr>
          <a:xfrm>
            <a:off x="583474" y="5698671"/>
            <a:ext cx="7064947" cy="369332"/>
          </a:xfrm>
          <a:prstGeom prst="rect">
            <a:avLst/>
          </a:prstGeom>
          <a:noFill/>
        </p:spPr>
        <p:txBody>
          <a:bodyPr wrap="none" rtlCol="0">
            <a:spAutoFit/>
          </a:bodyPr>
          <a:lstStyle/>
          <a:p>
            <a:r>
              <a:rPr lang="en-GB" dirty="0"/>
              <a:t>Living Planet Index </a:t>
            </a:r>
            <a:r>
              <a:rPr lang="en-GB" dirty="0">
                <a:effectLst/>
                <a:latin typeface="tahoma" panose="020B0604030504040204" pitchFamily="34" charset="0"/>
              </a:rPr>
              <a:t>measure of the state of global biological diversity </a:t>
            </a:r>
            <a:endParaRPr lang="en-GB" dirty="0"/>
          </a:p>
        </p:txBody>
      </p:sp>
    </p:spTree>
    <p:extLst>
      <p:ext uri="{BB962C8B-B14F-4D97-AF65-F5344CB8AC3E}">
        <p14:creationId xmlns:p14="http://schemas.microsoft.com/office/powerpoint/2010/main" val="3580994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Assessing Biodiversity </a:t>
            </a:r>
          </a:p>
        </p:txBody>
      </p:sp>
      <p:sp>
        <p:nvSpPr>
          <p:cNvPr id="3" name="Content Placeholder 2"/>
          <p:cNvSpPr>
            <a:spLocks noGrp="1"/>
          </p:cNvSpPr>
          <p:nvPr>
            <p:ph idx="1"/>
          </p:nvPr>
        </p:nvSpPr>
        <p:spPr/>
        <p:txBody>
          <a:bodyPr/>
          <a:lstStyle/>
          <a:p>
            <a:r>
              <a:rPr lang="en-GB" dirty="0"/>
              <a:t>Assess biodiversity using python</a:t>
            </a:r>
          </a:p>
          <a:p>
            <a:endParaRPr lang="en-GB" dirty="0"/>
          </a:p>
          <a:p>
            <a:r>
              <a:rPr lang="en-GB" dirty="0"/>
              <a:t>Part 1: Find the number of animas in a given location - 40% </a:t>
            </a:r>
          </a:p>
          <a:p>
            <a:r>
              <a:rPr lang="en-GB" dirty="0"/>
              <a:t>Part 2: Use google maps / earth to visualise animals at a location - 30% </a:t>
            </a:r>
          </a:p>
          <a:p>
            <a:r>
              <a:rPr lang="en-GB" dirty="0"/>
              <a:t>Part 3: Calculate species numbers at a location - 30% </a:t>
            </a:r>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458" y="3840077"/>
            <a:ext cx="3920805" cy="2692286"/>
          </a:xfrm>
          <a:prstGeom prst="rect">
            <a:avLst/>
          </a:prstGeom>
        </p:spPr>
      </p:pic>
    </p:spTree>
    <p:extLst>
      <p:ext uri="{BB962C8B-B14F-4D97-AF65-F5344CB8AC3E}">
        <p14:creationId xmlns:p14="http://schemas.microsoft.com/office/powerpoint/2010/main" val="1641589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a:t>
            </a:r>
          </a:p>
        </p:txBody>
      </p:sp>
      <p:sp>
        <p:nvSpPr>
          <p:cNvPr id="3" name="Content Placeholder 2"/>
          <p:cNvSpPr>
            <a:spLocks noGrp="1"/>
          </p:cNvSpPr>
          <p:nvPr>
            <p:ph idx="1"/>
          </p:nvPr>
        </p:nvSpPr>
        <p:spPr/>
        <p:txBody>
          <a:bodyPr/>
          <a:lstStyle/>
          <a:p>
            <a:r>
              <a:rPr lang="en-GB" dirty="0"/>
              <a:t>Global Biodiversity Information Facility (www.gbif.org) </a:t>
            </a:r>
          </a:p>
          <a:p>
            <a:pPr lvl="1"/>
            <a:r>
              <a:rPr lang="en-GB" dirty="0"/>
              <a:t>Nearly 2 billion records</a:t>
            </a:r>
          </a:p>
          <a:p>
            <a:pPr lvl="1"/>
            <a:r>
              <a:rPr lang="en-GB" dirty="0"/>
              <a:t>65,000 data sets</a:t>
            </a:r>
          </a:p>
          <a:p>
            <a:endParaRPr lang="en-GB" dirty="0"/>
          </a:p>
          <a:p>
            <a:r>
              <a:rPr lang="en-GB" dirty="0"/>
              <a:t>Assignment file </a:t>
            </a:r>
          </a:p>
          <a:p>
            <a:pPr lvl="1"/>
            <a:r>
              <a:rPr lang="en-GB" dirty="0"/>
              <a:t>Mammal.txt 125,000 sightings of mammals (UK)</a:t>
            </a:r>
          </a:p>
          <a:p>
            <a:pPr lvl="1"/>
            <a:r>
              <a:rPr lang="en-GB" dirty="0"/>
              <a:t>Birds.txt 250,000 sightings of birds (UK)</a:t>
            </a:r>
          </a:p>
          <a:p>
            <a:endParaRPr lang="en-GB" dirty="0"/>
          </a:p>
          <a:p>
            <a:r>
              <a:rPr lang="en-GB" dirty="0"/>
              <a:t>Each line of the file contains three pieces of information, separated by tab</a:t>
            </a:r>
          </a:p>
          <a:p>
            <a:pPr lvl="1"/>
            <a:r>
              <a:rPr lang="en-GB" dirty="0"/>
              <a:t>Species name</a:t>
            </a:r>
          </a:p>
          <a:p>
            <a:pPr lvl="1"/>
            <a:r>
              <a:rPr lang="en-GB" dirty="0"/>
              <a:t>Latitude</a:t>
            </a:r>
          </a:p>
          <a:p>
            <a:pPr lvl="1"/>
            <a:r>
              <a:rPr lang="en-GB" dirty="0"/>
              <a:t>Longitude</a:t>
            </a:r>
          </a:p>
          <a:p>
            <a:pPr marL="411480" lvl="1" indent="0">
              <a:buNone/>
            </a:pPr>
            <a:endParaRPr lang="en-GB" dirty="0"/>
          </a:p>
          <a:p>
            <a:endParaRPr lang="en-GB" dirty="0"/>
          </a:p>
        </p:txBody>
      </p:sp>
      <p:sp>
        <p:nvSpPr>
          <p:cNvPr id="4" name="TextBox 3"/>
          <p:cNvSpPr txBox="1"/>
          <p:nvPr/>
        </p:nvSpPr>
        <p:spPr>
          <a:xfrm>
            <a:off x="4752975" y="5198367"/>
            <a:ext cx="6400800" cy="1384995"/>
          </a:xfrm>
          <a:prstGeom prst="rect">
            <a:avLst/>
          </a:prstGeom>
          <a:noFill/>
        </p:spPr>
        <p:txBody>
          <a:bodyPr wrap="square" rtlCol="0">
            <a:spAutoFit/>
          </a:bodyPr>
          <a:lstStyle/>
          <a:p>
            <a:r>
              <a:rPr lang="en-GB" sz="1400" dirty="0" err="1">
                <a:solidFill>
                  <a:srgbClr val="2F2B20"/>
                </a:solidFill>
                <a:latin typeface="Courier New" pitchFamily="49" charset="0"/>
                <a:cs typeface="Courier New" pitchFamily="49" charset="0"/>
              </a:rPr>
              <a:t>Myotis</a:t>
            </a:r>
            <a:r>
              <a:rPr lang="en-GB" sz="1400" dirty="0">
                <a:solidFill>
                  <a:srgbClr val="2F2B20"/>
                </a:solidFill>
                <a:latin typeface="Courier New" pitchFamily="49" charset="0"/>
                <a:cs typeface="Courier New" pitchFamily="49" charset="0"/>
              </a:rPr>
              <a:t> </a:t>
            </a:r>
            <a:r>
              <a:rPr lang="en-GB" sz="1400" dirty="0" err="1">
                <a:solidFill>
                  <a:srgbClr val="2F2B20"/>
                </a:solidFill>
                <a:latin typeface="Courier New" pitchFamily="49" charset="0"/>
                <a:cs typeface="Courier New" pitchFamily="49" charset="0"/>
              </a:rPr>
              <a:t>nattereri</a:t>
            </a:r>
            <a:r>
              <a:rPr lang="en-GB" sz="1400" dirty="0">
                <a:solidFill>
                  <a:srgbClr val="2F2B20"/>
                </a:solidFill>
                <a:latin typeface="Courier New" pitchFamily="49" charset="0"/>
                <a:cs typeface="Courier New" pitchFamily="49" charset="0"/>
              </a:rPr>
              <a:t>	54.07663633	-1.006446707</a:t>
            </a:r>
          </a:p>
          <a:p>
            <a:r>
              <a:rPr lang="en-GB" sz="1400" dirty="0" err="1">
                <a:solidFill>
                  <a:srgbClr val="2F2B20"/>
                </a:solidFill>
                <a:latin typeface="Courier New" pitchFamily="49" charset="0"/>
                <a:cs typeface="Courier New" pitchFamily="49" charset="0"/>
              </a:rPr>
              <a:t>Myotis</a:t>
            </a:r>
            <a:r>
              <a:rPr lang="en-GB" sz="1400" dirty="0">
                <a:solidFill>
                  <a:srgbClr val="2F2B20"/>
                </a:solidFill>
                <a:latin typeface="Courier New" pitchFamily="49" charset="0"/>
                <a:cs typeface="Courier New" pitchFamily="49" charset="0"/>
              </a:rPr>
              <a:t> </a:t>
            </a:r>
            <a:r>
              <a:rPr lang="en-GB" sz="1400" dirty="0" err="1">
                <a:solidFill>
                  <a:srgbClr val="2F2B20"/>
                </a:solidFill>
                <a:latin typeface="Courier New" pitchFamily="49" charset="0"/>
                <a:cs typeface="Courier New" pitchFamily="49" charset="0"/>
              </a:rPr>
              <a:t>daubentonii</a:t>
            </a:r>
            <a:r>
              <a:rPr lang="en-GB" sz="1400" dirty="0">
                <a:solidFill>
                  <a:srgbClr val="2F2B20"/>
                </a:solidFill>
                <a:latin typeface="Courier New" pitchFamily="49" charset="0"/>
                <a:cs typeface="Courier New" pitchFamily="49" charset="0"/>
              </a:rPr>
              <a:t>	52.52594618	-1.019690469</a:t>
            </a:r>
          </a:p>
          <a:p>
            <a:r>
              <a:rPr lang="en-GB" sz="1400" dirty="0" err="1">
                <a:solidFill>
                  <a:srgbClr val="2F2B20"/>
                </a:solidFill>
                <a:latin typeface="Courier New" pitchFamily="49" charset="0"/>
                <a:cs typeface="Courier New" pitchFamily="49" charset="0"/>
              </a:rPr>
              <a:t>Dama</a:t>
            </a:r>
            <a:r>
              <a:rPr lang="en-GB" sz="1400" dirty="0">
                <a:solidFill>
                  <a:srgbClr val="2F2B20"/>
                </a:solidFill>
                <a:latin typeface="Courier New" pitchFamily="49" charset="0"/>
                <a:cs typeface="Courier New" pitchFamily="49" charset="0"/>
              </a:rPr>
              <a:t> </a:t>
            </a:r>
            <a:r>
              <a:rPr lang="en-GB" sz="1400" dirty="0" err="1">
                <a:solidFill>
                  <a:srgbClr val="2F2B20"/>
                </a:solidFill>
                <a:latin typeface="Courier New" pitchFamily="49" charset="0"/>
                <a:cs typeface="Courier New" pitchFamily="49" charset="0"/>
              </a:rPr>
              <a:t>dama</a:t>
            </a:r>
            <a:r>
              <a:rPr lang="en-GB" sz="1400" dirty="0">
                <a:solidFill>
                  <a:srgbClr val="2F2B20"/>
                </a:solidFill>
                <a:latin typeface="Courier New" pitchFamily="49" charset="0"/>
                <a:cs typeface="Courier New" pitchFamily="49" charset="0"/>
              </a:rPr>
              <a:t>	53.21942887	-1.624792548</a:t>
            </a:r>
          </a:p>
          <a:p>
            <a:r>
              <a:rPr lang="en-GB" sz="1400" dirty="0" err="1">
                <a:solidFill>
                  <a:srgbClr val="2F2B20"/>
                </a:solidFill>
                <a:latin typeface="Courier New" pitchFamily="49" charset="0"/>
                <a:cs typeface="Courier New" pitchFamily="49" charset="0"/>
              </a:rPr>
              <a:t>Rattus</a:t>
            </a:r>
            <a:r>
              <a:rPr lang="en-GB" sz="1400" dirty="0">
                <a:solidFill>
                  <a:srgbClr val="2F2B20"/>
                </a:solidFill>
                <a:latin typeface="Courier New" pitchFamily="49" charset="0"/>
                <a:cs typeface="Courier New" pitchFamily="49" charset="0"/>
              </a:rPr>
              <a:t> </a:t>
            </a:r>
            <a:r>
              <a:rPr lang="en-GB" sz="1400" dirty="0" err="1">
                <a:solidFill>
                  <a:srgbClr val="2F2B20"/>
                </a:solidFill>
                <a:latin typeface="Courier New" pitchFamily="49" charset="0"/>
                <a:cs typeface="Courier New" pitchFamily="49" charset="0"/>
              </a:rPr>
              <a:t>rattus</a:t>
            </a:r>
            <a:r>
              <a:rPr lang="en-GB" sz="1400" dirty="0">
                <a:solidFill>
                  <a:srgbClr val="2F2B20"/>
                </a:solidFill>
                <a:latin typeface="Courier New" pitchFamily="49" charset="0"/>
                <a:cs typeface="Courier New" pitchFamily="49" charset="0"/>
              </a:rPr>
              <a:t>	55.94304686	-4.482137591</a:t>
            </a:r>
          </a:p>
          <a:p>
            <a:r>
              <a:rPr lang="en-GB" sz="1400" dirty="0" err="1">
                <a:solidFill>
                  <a:srgbClr val="2F2B20"/>
                </a:solidFill>
                <a:latin typeface="Courier New" pitchFamily="49" charset="0"/>
                <a:cs typeface="Courier New" pitchFamily="49" charset="0"/>
              </a:rPr>
              <a:t>Cervus</a:t>
            </a:r>
            <a:r>
              <a:rPr lang="en-GB" sz="1400" dirty="0">
                <a:solidFill>
                  <a:srgbClr val="2F2B20"/>
                </a:solidFill>
                <a:latin typeface="Courier New" pitchFamily="49" charset="0"/>
                <a:cs typeface="Courier New" pitchFamily="49" charset="0"/>
              </a:rPr>
              <a:t> </a:t>
            </a:r>
            <a:r>
              <a:rPr lang="en-GB" sz="1400" dirty="0" err="1">
                <a:solidFill>
                  <a:srgbClr val="2F2B20"/>
                </a:solidFill>
                <a:latin typeface="Courier New" pitchFamily="49" charset="0"/>
                <a:cs typeface="Courier New" pitchFamily="49" charset="0"/>
              </a:rPr>
              <a:t>elaphus</a:t>
            </a:r>
            <a:r>
              <a:rPr lang="en-GB" sz="1400" dirty="0">
                <a:solidFill>
                  <a:srgbClr val="2F2B20"/>
                </a:solidFill>
                <a:latin typeface="Courier New" pitchFamily="49" charset="0"/>
                <a:cs typeface="Courier New" pitchFamily="49" charset="0"/>
              </a:rPr>
              <a:t>	52.34144062	0.716034267</a:t>
            </a:r>
          </a:p>
          <a:p>
            <a:endParaRPr lang="en-GB" sz="1400" dirty="0">
              <a:solidFill>
                <a:srgbClr val="2F2B20"/>
              </a:solidFill>
              <a:latin typeface="Courier New" pitchFamily="49" charset="0"/>
              <a:cs typeface="Courier New" pitchFamily="49" charset="0"/>
            </a:endParaRPr>
          </a:p>
        </p:txBody>
      </p:sp>
    </p:spTree>
    <p:extLst>
      <p:ext uri="{BB962C8B-B14F-4D97-AF65-F5344CB8AC3E}">
        <p14:creationId xmlns:p14="http://schemas.microsoft.com/office/powerpoint/2010/main" val="2721719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CalculateDistance</a:t>
            </a:r>
            <a:endParaRPr lang="en-GB" dirty="0"/>
          </a:p>
        </p:txBody>
      </p:sp>
      <p:sp>
        <p:nvSpPr>
          <p:cNvPr id="3" name="Content Placeholder 2"/>
          <p:cNvSpPr>
            <a:spLocks noGrp="1"/>
          </p:cNvSpPr>
          <p:nvPr>
            <p:ph idx="1"/>
          </p:nvPr>
        </p:nvSpPr>
        <p:spPr>
          <a:xfrm>
            <a:off x="609600" y="1347107"/>
            <a:ext cx="10160000" cy="5053693"/>
          </a:xfrm>
        </p:spPr>
        <p:txBody>
          <a:bodyPr>
            <a:normAutofit/>
          </a:bodyPr>
          <a:lstStyle/>
          <a:p>
            <a:r>
              <a:rPr lang="en-GB" dirty="0"/>
              <a:t>A function </a:t>
            </a:r>
            <a:r>
              <a:rPr lang="en-GB" dirty="0" err="1"/>
              <a:t>CalculateDistance</a:t>
            </a:r>
            <a:r>
              <a:rPr lang="en-GB" dirty="0"/>
              <a:t> has been provided for you, it takes four variables, the latitude and longitude of the first location and the latitude and longitude of the second location. It returns the distance in km between the two locations.</a:t>
            </a:r>
          </a:p>
          <a:p>
            <a:endParaRPr lang="en-GB" dirty="0"/>
          </a:p>
          <a:p>
            <a:r>
              <a:rPr lang="en-GB" dirty="0"/>
              <a:t>For example, to calculate the distance between Exeter (50.7, -3.533333) and Newcastle (54.988056, -1.619444) </a:t>
            </a:r>
          </a:p>
          <a:p>
            <a:endParaRPr lang="en-GB" dirty="0"/>
          </a:p>
          <a:p>
            <a:pPr marL="411480" lvl="1" indent="0">
              <a:buNone/>
            </a:pPr>
            <a:r>
              <a:rPr lang="en-GB" dirty="0" err="1"/>
              <a:t>CalculateDistance</a:t>
            </a:r>
            <a:r>
              <a:rPr lang="en-GB" dirty="0"/>
              <a:t> (50.7, -3.533333, 54.988056, -1.619444)</a:t>
            </a:r>
          </a:p>
          <a:p>
            <a:pPr marL="411480" lvl="1" indent="0">
              <a:buNone/>
            </a:pPr>
            <a:endParaRPr lang="en-GB" dirty="0"/>
          </a:p>
          <a:p>
            <a:pPr marL="411480" lvl="1" indent="0">
              <a:buNone/>
            </a:pPr>
            <a:r>
              <a:rPr lang="en-GB" dirty="0"/>
              <a:t>Will return 493.92</a:t>
            </a:r>
          </a:p>
          <a:p>
            <a:endParaRPr lang="en-GB" dirty="0"/>
          </a:p>
          <a:p>
            <a:r>
              <a:rPr lang="en-GB" dirty="0">
                <a:solidFill>
                  <a:srgbClr val="FF0000"/>
                </a:solidFill>
              </a:rPr>
              <a:t>NOTE the code supplied for the assignment is not commented to a sufficient level</a:t>
            </a:r>
          </a:p>
          <a:p>
            <a:endParaRPr lang="en-GB" dirty="0"/>
          </a:p>
        </p:txBody>
      </p:sp>
    </p:spTree>
    <p:extLst>
      <p:ext uri="{BB962C8B-B14F-4D97-AF65-F5344CB8AC3E}">
        <p14:creationId xmlns:p14="http://schemas.microsoft.com/office/powerpoint/2010/main" val="1642906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605" y="170311"/>
            <a:ext cx="10160000" cy="1143000"/>
          </a:xfrm>
        </p:spPr>
        <p:txBody>
          <a:bodyPr/>
          <a:lstStyle/>
          <a:p>
            <a:r>
              <a:rPr lang="en-GB" dirty="0"/>
              <a:t>KML files</a:t>
            </a:r>
          </a:p>
        </p:txBody>
      </p:sp>
      <p:sp>
        <p:nvSpPr>
          <p:cNvPr id="4" name="TextBox 3"/>
          <p:cNvSpPr txBox="1"/>
          <p:nvPr/>
        </p:nvSpPr>
        <p:spPr>
          <a:xfrm>
            <a:off x="327281" y="3503260"/>
            <a:ext cx="7150826" cy="2062103"/>
          </a:xfrm>
          <a:prstGeom prst="rect">
            <a:avLst/>
          </a:prstGeom>
          <a:noFill/>
          <a:ln w="25400">
            <a:solidFill>
              <a:schemeClr val="tx1"/>
            </a:solidFill>
          </a:ln>
        </p:spPr>
        <p:txBody>
          <a:bodyPr wrap="square" rtlCol="0">
            <a:spAutoFit/>
          </a:bodyPr>
          <a:lstStyle/>
          <a:p>
            <a:r>
              <a:rPr lang="fr-FR" sz="1600" dirty="0">
                <a:solidFill>
                  <a:srgbClr val="2F2B20"/>
                </a:solidFill>
                <a:latin typeface="Courier New" pitchFamily="49" charset="0"/>
                <a:cs typeface="Courier New" pitchFamily="49" charset="0"/>
              </a:rPr>
              <a:t>&lt;Document&gt;</a:t>
            </a:r>
          </a:p>
          <a:p>
            <a:r>
              <a:rPr lang="fr-FR" sz="1600" dirty="0">
                <a:solidFill>
                  <a:srgbClr val="2F2B20"/>
                </a:solidFill>
                <a:latin typeface="Courier New" pitchFamily="49" charset="0"/>
                <a:cs typeface="Courier New" pitchFamily="49" charset="0"/>
              </a:rPr>
              <a:t>  &lt;</a:t>
            </a:r>
            <a:r>
              <a:rPr lang="fr-FR" sz="1600" dirty="0" err="1">
                <a:solidFill>
                  <a:srgbClr val="2F2B20"/>
                </a:solidFill>
                <a:latin typeface="Courier New" pitchFamily="49" charset="0"/>
                <a:cs typeface="Courier New" pitchFamily="49" charset="0"/>
              </a:rPr>
              <a:t>Placemark</a:t>
            </a:r>
            <a:r>
              <a:rPr lang="fr-FR" sz="1600" dirty="0">
                <a:solidFill>
                  <a:srgbClr val="2F2B20"/>
                </a:solidFill>
                <a:latin typeface="Courier New" pitchFamily="49" charset="0"/>
                <a:cs typeface="Courier New" pitchFamily="49" charset="0"/>
              </a:rPr>
              <a:t>&gt;</a:t>
            </a:r>
          </a:p>
          <a:p>
            <a:r>
              <a:rPr lang="fr-FR" sz="1600" dirty="0">
                <a:solidFill>
                  <a:srgbClr val="2F2B20"/>
                </a:solidFill>
                <a:latin typeface="Courier New" pitchFamily="49" charset="0"/>
                <a:cs typeface="Courier New" pitchFamily="49" charset="0"/>
              </a:rPr>
              <a:t>    &lt;description&gt;Palmer Lecture Theater&lt;/description&gt;</a:t>
            </a:r>
          </a:p>
          <a:p>
            <a:pPr lvl="1"/>
            <a:r>
              <a:rPr lang="fr-FR" sz="1600" dirty="0">
                <a:solidFill>
                  <a:srgbClr val="2F2B20"/>
                </a:solidFill>
                <a:latin typeface="Courier New" pitchFamily="49" charset="0"/>
                <a:cs typeface="Courier New" pitchFamily="49" charset="0"/>
              </a:rPr>
              <a:t>  &lt;Point&gt;</a:t>
            </a:r>
          </a:p>
          <a:p>
            <a:pPr lvl="1"/>
            <a:r>
              <a:rPr lang="fr-FR" sz="1600" dirty="0">
                <a:solidFill>
                  <a:srgbClr val="2F2B20"/>
                </a:solidFill>
                <a:latin typeface="Courier New" pitchFamily="49" charset="0"/>
                <a:cs typeface="Courier New" pitchFamily="49" charset="0"/>
              </a:rPr>
              <a:t>    &lt;</a:t>
            </a:r>
            <a:r>
              <a:rPr lang="fr-FR" sz="1600" dirty="0" err="1">
                <a:solidFill>
                  <a:srgbClr val="2F2B20"/>
                </a:solidFill>
                <a:latin typeface="Courier New" pitchFamily="49" charset="0"/>
                <a:cs typeface="Courier New" pitchFamily="49" charset="0"/>
              </a:rPr>
              <a:t>coordinates</a:t>
            </a:r>
            <a:r>
              <a:rPr lang="fr-FR" sz="1600" dirty="0">
                <a:solidFill>
                  <a:srgbClr val="2F2B20"/>
                </a:solidFill>
                <a:latin typeface="Courier New" pitchFamily="49" charset="0"/>
                <a:cs typeface="Courier New" pitchFamily="49" charset="0"/>
              </a:rPr>
              <a:t>&gt;-0.944283, 51.441378&lt;/</a:t>
            </a:r>
            <a:r>
              <a:rPr lang="fr-FR" sz="1600" dirty="0" err="1">
                <a:solidFill>
                  <a:srgbClr val="2F2B20"/>
                </a:solidFill>
                <a:latin typeface="Courier New" pitchFamily="49" charset="0"/>
                <a:cs typeface="Courier New" pitchFamily="49" charset="0"/>
              </a:rPr>
              <a:t>coordinates</a:t>
            </a:r>
            <a:r>
              <a:rPr lang="fr-FR" sz="1600" dirty="0">
                <a:solidFill>
                  <a:srgbClr val="2F2B20"/>
                </a:solidFill>
                <a:latin typeface="Courier New" pitchFamily="49" charset="0"/>
                <a:cs typeface="Courier New" pitchFamily="49" charset="0"/>
              </a:rPr>
              <a:t>&gt;</a:t>
            </a:r>
          </a:p>
          <a:p>
            <a:pPr lvl="1"/>
            <a:r>
              <a:rPr lang="fr-FR" sz="1600" dirty="0">
                <a:solidFill>
                  <a:srgbClr val="2F2B20"/>
                </a:solidFill>
                <a:latin typeface="Courier New" pitchFamily="49" charset="0"/>
                <a:cs typeface="Courier New" pitchFamily="49" charset="0"/>
              </a:rPr>
              <a:t>  &lt;/Point&gt;</a:t>
            </a:r>
          </a:p>
          <a:p>
            <a:r>
              <a:rPr lang="fr-FR" sz="1600" dirty="0">
                <a:solidFill>
                  <a:srgbClr val="2F2B20"/>
                </a:solidFill>
                <a:latin typeface="Courier New" pitchFamily="49" charset="0"/>
                <a:cs typeface="Courier New" pitchFamily="49" charset="0"/>
              </a:rPr>
              <a:t>  &lt;/</a:t>
            </a:r>
            <a:r>
              <a:rPr lang="fr-FR" sz="1600" dirty="0" err="1">
                <a:solidFill>
                  <a:srgbClr val="2F2B20"/>
                </a:solidFill>
                <a:latin typeface="Courier New" pitchFamily="49" charset="0"/>
                <a:cs typeface="Courier New" pitchFamily="49" charset="0"/>
              </a:rPr>
              <a:t>Placemark</a:t>
            </a:r>
            <a:r>
              <a:rPr lang="fr-FR" sz="1600" dirty="0">
                <a:solidFill>
                  <a:srgbClr val="2F2B20"/>
                </a:solidFill>
                <a:latin typeface="Courier New" pitchFamily="49" charset="0"/>
                <a:cs typeface="Courier New" pitchFamily="49" charset="0"/>
              </a:rPr>
              <a:t>&gt;</a:t>
            </a:r>
          </a:p>
          <a:p>
            <a:r>
              <a:rPr lang="fr-FR" sz="1600" dirty="0">
                <a:solidFill>
                  <a:srgbClr val="2F2B20"/>
                </a:solidFill>
                <a:latin typeface="Courier New" pitchFamily="49" charset="0"/>
                <a:cs typeface="Courier New" pitchFamily="49" charset="0"/>
              </a:rPr>
              <a:t>&lt;/Document&gt;</a:t>
            </a:r>
          </a:p>
        </p:txBody>
      </p:sp>
      <p:sp>
        <p:nvSpPr>
          <p:cNvPr id="5" name="TextBox 4"/>
          <p:cNvSpPr txBox="1"/>
          <p:nvPr/>
        </p:nvSpPr>
        <p:spPr>
          <a:xfrm>
            <a:off x="327281" y="1292637"/>
            <a:ext cx="6006131" cy="923330"/>
          </a:xfrm>
          <a:prstGeom prst="rect">
            <a:avLst/>
          </a:prstGeom>
          <a:noFill/>
        </p:spPr>
        <p:txBody>
          <a:bodyPr wrap="none" rtlCol="0">
            <a:spAutoFit/>
          </a:bodyPr>
          <a:lstStyle/>
          <a:p>
            <a:r>
              <a:rPr lang="en-GB" dirty="0"/>
              <a:t>KML files contain text that describe locations on google earth</a:t>
            </a:r>
          </a:p>
          <a:p>
            <a:endParaRPr lang="en-GB" dirty="0"/>
          </a:p>
          <a:p>
            <a:r>
              <a:rPr lang="en-GB" dirty="0"/>
              <a:t>Chapter 8 of the handbook describes KML files in more detail</a:t>
            </a:r>
          </a:p>
        </p:txBody>
      </p:sp>
      <p:sp>
        <p:nvSpPr>
          <p:cNvPr id="6" name="TextBox 5">
            <a:extLst>
              <a:ext uri="{FF2B5EF4-FFF2-40B4-BE49-F238E27FC236}">
                <a16:creationId xmlns:a16="http://schemas.microsoft.com/office/drawing/2014/main" id="{2E95A8EE-E2FB-47E3-83B3-90B461972FF4}"/>
              </a:ext>
            </a:extLst>
          </p:cNvPr>
          <p:cNvSpPr txBox="1"/>
          <p:nvPr/>
        </p:nvSpPr>
        <p:spPr>
          <a:xfrm>
            <a:off x="315472" y="2369426"/>
            <a:ext cx="7385227" cy="369332"/>
          </a:xfrm>
          <a:prstGeom prst="rect">
            <a:avLst/>
          </a:prstGeom>
          <a:noFill/>
        </p:spPr>
        <p:txBody>
          <a:bodyPr wrap="none" rtlCol="0">
            <a:spAutoFit/>
          </a:bodyPr>
          <a:lstStyle/>
          <a:p>
            <a:r>
              <a:rPr lang="en-GB" dirty="0">
                <a:solidFill>
                  <a:srgbClr val="FF0000"/>
                </a:solidFill>
              </a:rPr>
              <a:t>NOTE KML files are horribly and inconsistently case sensitive, be very careful </a:t>
            </a:r>
          </a:p>
        </p:txBody>
      </p:sp>
      <p:pic>
        <p:nvPicPr>
          <p:cNvPr id="10" name="Picture 9">
            <a:extLst>
              <a:ext uri="{FF2B5EF4-FFF2-40B4-BE49-F238E27FC236}">
                <a16:creationId xmlns:a16="http://schemas.microsoft.com/office/drawing/2014/main" id="{FA00CA69-435F-4209-BCA9-3E10777354A3}"/>
              </a:ext>
            </a:extLst>
          </p:cNvPr>
          <p:cNvPicPr>
            <a:picLocks noChangeAspect="1"/>
          </p:cNvPicPr>
          <p:nvPr/>
        </p:nvPicPr>
        <p:blipFill>
          <a:blip r:embed="rId3"/>
          <a:stretch>
            <a:fillRect/>
          </a:stretch>
        </p:blipFill>
        <p:spPr>
          <a:xfrm>
            <a:off x="7671708" y="3417349"/>
            <a:ext cx="4193011" cy="3429000"/>
          </a:xfrm>
          <a:prstGeom prst="rect">
            <a:avLst/>
          </a:prstGeom>
        </p:spPr>
      </p:pic>
      <p:sp>
        <p:nvSpPr>
          <p:cNvPr id="11" name="TextBox 10">
            <a:extLst>
              <a:ext uri="{FF2B5EF4-FFF2-40B4-BE49-F238E27FC236}">
                <a16:creationId xmlns:a16="http://schemas.microsoft.com/office/drawing/2014/main" id="{786331DB-451A-4352-981E-2250A77DE9C9}"/>
              </a:ext>
            </a:extLst>
          </p:cNvPr>
          <p:cNvSpPr txBox="1"/>
          <p:nvPr/>
        </p:nvSpPr>
        <p:spPr>
          <a:xfrm>
            <a:off x="233072" y="2918464"/>
            <a:ext cx="1774204" cy="369332"/>
          </a:xfrm>
          <a:prstGeom prst="rect">
            <a:avLst/>
          </a:prstGeom>
          <a:noFill/>
        </p:spPr>
        <p:txBody>
          <a:bodyPr wrap="none" rtlCol="0">
            <a:spAutoFit/>
          </a:bodyPr>
          <a:lstStyle/>
          <a:p>
            <a:r>
              <a:rPr lang="en-GB" dirty="0"/>
              <a:t>KML file content</a:t>
            </a:r>
          </a:p>
        </p:txBody>
      </p:sp>
      <p:sp>
        <p:nvSpPr>
          <p:cNvPr id="15" name="TextBox 14">
            <a:extLst>
              <a:ext uri="{FF2B5EF4-FFF2-40B4-BE49-F238E27FC236}">
                <a16:creationId xmlns:a16="http://schemas.microsoft.com/office/drawing/2014/main" id="{67138815-C592-4603-BB99-4D3A31220139}"/>
              </a:ext>
            </a:extLst>
          </p:cNvPr>
          <p:cNvSpPr txBox="1"/>
          <p:nvPr/>
        </p:nvSpPr>
        <p:spPr>
          <a:xfrm>
            <a:off x="7585662" y="2918464"/>
            <a:ext cx="3355855" cy="369332"/>
          </a:xfrm>
          <a:prstGeom prst="rect">
            <a:avLst/>
          </a:prstGeom>
          <a:noFill/>
        </p:spPr>
        <p:txBody>
          <a:bodyPr wrap="none" rtlCol="0">
            <a:spAutoFit/>
          </a:bodyPr>
          <a:lstStyle/>
          <a:p>
            <a:r>
              <a:rPr lang="en-GB" dirty="0"/>
              <a:t>KML file loaded into google earth</a:t>
            </a:r>
          </a:p>
        </p:txBody>
      </p:sp>
    </p:spTree>
    <p:extLst>
      <p:ext uri="{BB962C8B-B14F-4D97-AF65-F5344CB8AC3E}">
        <p14:creationId xmlns:p14="http://schemas.microsoft.com/office/powerpoint/2010/main" val="1382268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8"/>
          <p:cNvSpPr txBox="1">
            <a:spLocks noChangeArrowheads="1"/>
          </p:cNvSpPr>
          <p:nvPr/>
        </p:nvSpPr>
        <p:spPr bwMode="auto">
          <a:xfrm>
            <a:off x="418556" y="1291047"/>
            <a:ext cx="7543800" cy="516359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a:lnSpc>
                <a:spcPct val="107000"/>
              </a:lnSpc>
            </a:pPr>
            <a:r>
              <a:rPr lang="en-GB" sz="1400" dirty="0">
                <a:solidFill>
                  <a:srgbClr val="2F2B20"/>
                </a:solidFill>
                <a:latin typeface="Courier New"/>
                <a:ea typeface="Calibri"/>
                <a:cs typeface="Times New Roman"/>
              </a:rPr>
              <a:t>&lt;Document&gt;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&lt;description&gt;Palmer Lecture Theatre&lt;/description&gt;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914400" indent="457200">
              <a:lnSpc>
                <a:spcPct val="107000"/>
              </a:lnSpc>
            </a:pPr>
            <a:r>
              <a:rPr lang="en-GB" sz="1400" dirty="0">
                <a:solidFill>
                  <a:srgbClr val="2F2B20"/>
                </a:solidFill>
                <a:latin typeface="Courier New"/>
                <a:ea typeface="Calibri"/>
                <a:cs typeface="Times New Roman"/>
              </a:rPr>
              <a:t>&lt;coordinates&gt;-0.944283, 51.441378&lt;/coordinates&gt;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 </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&lt;description&gt;Teaching Office&lt;/description&gt;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914400" indent="457200">
              <a:lnSpc>
                <a:spcPct val="107000"/>
              </a:lnSpc>
            </a:pPr>
            <a:r>
              <a:rPr lang="en-GB" sz="1400" dirty="0">
                <a:solidFill>
                  <a:srgbClr val="2F2B20"/>
                </a:solidFill>
                <a:latin typeface="Courier New"/>
                <a:ea typeface="Calibri"/>
                <a:cs typeface="Times New Roman"/>
              </a:rPr>
              <a:t>&lt;coordinates&gt;-0.941968, 51.437728&lt;/coordinates&gt;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 </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&lt;description&gt;Queens Head&lt;/description&gt;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914400" indent="457200">
              <a:lnSpc>
                <a:spcPct val="107000"/>
              </a:lnSpc>
            </a:pPr>
            <a:r>
              <a:rPr lang="en-GB" sz="1400" dirty="0">
                <a:solidFill>
                  <a:srgbClr val="2F2B20"/>
                </a:solidFill>
                <a:latin typeface="Courier New"/>
                <a:ea typeface="Calibri"/>
                <a:cs typeface="Times New Roman"/>
              </a:rPr>
              <a:t>&lt;coordinates&gt;-0.956619, 51.443092 &lt;/coordinates&gt;</a:t>
            </a:r>
            <a:endParaRPr lang="en-GB" sz="1400" dirty="0">
              <a:solidFill>
                <a:srgbClr val="2F2B20"/>
              </a:solidFill>
              <a:ea typeface="Calibri"/>
              <a:cs typeface="Times New Roman"/>
            </a:endParaRPr>
          </a:p>
          <a:p>
            <a:pPr marL="914400">
              <a:lnSpc>
                <a:spcPct val="107000"/>
              </a:lnSpc>
            </a:pPr>
            <a:r>
              <a:rPr lang="en-GB" sz="1400" dirty="0">
                <a:solidFill>
                  <a:srgbClr val="2F2B20"/>
                </a:solidFill>
                <a:latin typeface="Courier New"/>
                <a:ea typeface="Calibri"/>
                <a:cs typeface="Times New Roman"/>
              </a:rPr>
              <a:t>&lt;/Point&gt;</a:t>
            </a:r>
            <a:endParaRPr lang="en-GB" sz="1400" dirty="0">
              <a:solidFill>
                <a:srgbClr val="2F2B20"/>
              </a:solidFill>
              <a:ea typeface="Calibri"/>
              <a:cs typeface="Times New Roman"/>
            </a:endParaRPr>
          </a:p>
          <a:p>
            <a:pPr marL="457200">
              <a:lnSpc>
                <a:spcPct val="107000"/>
              </a:lnSpc>
            </a:pPr>
            <a:r>
              <a:rPr lang="en-GB" sz="1400" dirty="0">
                <a:solidFill>
                  <a:srgbClr val="2F2B20"/>
                </a:solidFill>
                <a:latin typeface="Courier New"/>
                <a:ea typeface="Calibri"/>
                <a:cs typeface="Times New Roman"/>
              </a:rPr>
              <a:t>&lt;/</a:t>
            </a:r>
            <a:r>
              <a:rPr lang="en-GB" sz="1400" dirty="0" err="1">
                <a:solidFill>
                  <a:srgbClr val="2F2B20"/>
                </a:solidFill>
                <a:latin typeface="Courier New"/>
                <a:ea typeface="Calibri"/>
                <a:cs typeface="Times New Roman"/>
              </a:rPr>
              <a:t>Placemark</a:t>
            </a:r>
            <a:r>
              <a:rPr lang="en-GB" sz="1400" dirty="0">
                <a:solidFill>
                  <a:srgbClr val="2F2B20"/>
                </a:solidFill>
                <a:latin typeface="Courier New"/>
                <a:ea typeface="Calibri"/>
                <a:cs typeface="Times New Roman"/>
              </a:rPr>
              <a:t>&gt;</a:t>
            </a:r>
            <a:endParaRPr lang="en-GB" sz="1400" dirty="0">
              <a:solidFill>
                <a:srgbClr val="2F2B20"/>
              </a:solidFill>
              <a:ea typeface="Calibri"/>
              <a:cs typeface="Times New Roman"/>
            </a:endParaRPr>
          </a:p>
          <a:p>
            <a:pPr>
              <a:lnSpc>
                <a:spcPct val="107000"/>
              </a:lnSpc>
            </a:pPr>
            <a:r>
              <a:rPr lang="en-GB" sz="1400" dirty="0">
                <a:solidFill>
                  <a:srgbClr val="2F2B20"/>
                </a:solidFill>
                <a:latin typeface="Courier New"/>
                <a:ea typeface="Calibri"/>
                <a:cs typeface="Times New Roman"/>
              </a:rPr>
              <a:t>&lt;/Document&gt;</a:t>
            </a:r>
            <a:endParaRPr lang="en-GB" sz="1400" dirty="0">
              <a:solidFill>
                <a:srgbClr val="2F2B20"/>
              </a:solidFill>
              <a:ea typeface="Calibri"/>
              <a:cs typeface="Times New Roman"/>
            </a:endParaRPr>
          </a:p>
        </p:txBody>
      </p:sp>
      <p:sp>
        <p:nvSpPr>
          <p:cNvPr id="2" name="TextBox 1">
            <a:extLst>
              <a:ext uri="{FF2B5EF4-FFF2-40B4-BE49-F238E27FC236}">
                <a16:creationId xmlns:a16="http://schemas.microsoft.com/office/drawing/2014/main" id="{D87E3A41-6035-438B-8A7F-E3523F179E3E}"/>
              </a:ext>
            </a:extLst>
          </p:cNvPr>
          <p:cNvSpPr txBox="1"/>
          <p:nvPr/>
        </p:nvSpPr>
        <p:spPr>
          <a:xfrm>
            <a:off x="300445" y="496388"/>
            <a:ext cx="9004664" cy="369332"/>
          </a:xfrm>
          <a:prstGeom prst="rect">
            <a:avLst/>
          </a:prstGeom>
          <a:noFill/>
        </p:spPr>
        <p:txBody>
          <a:bodyPr wrap="square" rtlCol="0">
            <a:spAutoFit/>
          </a:bodyPr>
          <a:lstStyle/>
          <a:p>
            <a:r>
              <a:rPr lang="en-GB" dirty="0"/>
              <a:t>KML files can contain multiple place markers, the KML file below has three locations.   </a:t>
            </a:r>
          </a:p>
        </p:txBody>
      </p:sp>
    </p:spTree>
    <p:extLst>
      <p:ext uri="{BB962C8B-B14F-4D97-AF65-F5344CB8AC3E}">
        <p14:creationId xmlns:p14="http://schemas.microsoft.com/office/powerpoint/2010/main" val="3312572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Code commenting</a:t>
            </a:r>
          </a:p>
        </p:txBody>
      </p:sp>
      <p:sp>
        <p:nvSpPr>
          <p:cNvPr id="3" name="Content Placeholder 2"/>
          <p:cNvSpPr>
            <a:spLocks noGrp="1"/>
          </p:cNvSpPr>
          <p:nvPr>
            <p:ph idx="1"/>
          </p:nvPr>
        </p:nvSpPr>
        <p:spPr/>
        <p:txBody>
          <a:bodyPr>
            <a:normAutofit lnSpcReduction="10000"/>
          </a:bodyPr>
          <a:lstStyle/>
          <a:p>
            <a:r>
              <a:rPr lang="en-GB" dirty="0"/>
              <a:t>Your code for the assignment needs to be commented. </a:t>
            </a:r>
          </a:p>
          <a:p>
            <a:endParaRPr lang="en-GB" dirty="0"/>
          </a:p>
          <a:p>
            <a:r>
              <a:rPr lang="en-GB" dirty="0"/>
              <a:t>Annotate a program</a:t>
            </a:r>
          </a:p>
          <a:p>
            <a:pPr lvl="1"/>
            <a:r>
              <a:rPr lang="en-GB" dirty="0"/>
              <a:t>Quickly understand the purpose of a program</a:t>
            </a:r>
          </a:p>
          <a:p>
            <a:endParaRPr lang="en-GB" dirty="0"/>
          </a:p>
          <a:p>
            <a:r>
              <a:rPr lang="en-GB" dirty="0"/>
              <a:t>Documents the use of a program</a:t>
            </a:r>
          </a:p>
          <a:p>
            <a:endParaRPr lang="en-GB" dirty="0"/>
          </a:p>
          <a:p>
            <a:r>
              <a:rPr lang="en-GB" dirty="0"/>
              <a:t>Higher level information than the code</a:t>
            </a:r>
          </a:p>
          <a:p>
            <a:endParaRPr lang="en-GB" dirty="0"/>
          </a:p>
          <a:p>
            <a:r>
              <a:rPr lang="en-GB" dirty="0"/>
              <a:t>Comment start with #</a:t>
            </a:r>
          </a:p>
          <a:p>
            <a:endParaRPr lang="en-GB" dirty="0"/>
          </a:p>
          <a:p>
            <a:r>
              <a:rPr lang="en-GB" dirty="0"/>
              <a:t>They are ignored by python</a:t>
            </a:r>
          </a:p>
          <a:p>
            <a:endParaRPr lang="en-GB" dirty="0"/>
          </a:p>
        </p:txBody>
      </p:sp>
    </p:spTree>
    <p:extLst>
      <p:ext uri="{BB962C8B-B14F-4D97-AF65-F5344CB8AC3E}">
        <p14:creationId xmlns:p14="http://schemas.microsoft.com/office/powerpoint/2010/main" val="4048235774"/>
      </p:ext>
    </p:extLst>
  </p:cSld>
  <p:clrMapOvr>
    <a:masterClrMapping/>
  </p:clrMapOvr>
  <mc:AlternateContent xmlns:mc="http://schemas.openxmlformats.org/markup-compatibility/2006" xmlns:p14="http://schemas.microsoft.com/office/powerpoint/2010/main">
    <mc:Choice Requires="p14">
      <p:transition spd="slow" p14:dur="2000" advTm="37141"/>
    </mc:Choice>
    <mc:Fallback xmlns="">
      <p:transition spd="slow" advTm="3714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36632-6602-4F3C-8810-6D115CD5DFF8}"/>
              </a:ext>
            </a:extLst>
          </p:cNvPr>
          <p:cNvSpPr>
            <a:spLocks noGrp="1"/>
          </p:cNvSpPr>
          <p:nvPr>
            <p:ph type="title"/>
          </p:nvPr>
        </p:nvSpPr>
        <p:spPr>
          <a:xfrm>
            <a:off x="1905000" y="423644"/>
            <a:ext cx="7620000" cy="1143000"/>
          </a:xfrm>
        </p:spPr>
        <p:txBody>
          <a:bodyPr/>
          <a:lstStyle/>
          <a:p>
            <a:r>
              <a:rPr lang="en-GB" b="1" dirty="0"/>
              <a:t>How to comment in Python – Tips and best practices</a:t>
            </a:r>
            <a:br>
              <a:rPr lang="en-GB" b="1" dirty="0"/>
            </a:br>
            <a:endParaRPr lang="en-GB" dirty="0"/>
          </a:p>
        </p:txBody>
      </p:sp>
      <p:sp>
        <p:nvSpPr>
          <p:cNvPr id="3" name="Content Placeholder 2">
            <a:extLst>
              <a:ext uri="{FF2B5EF4-FFF2-40B4-BE49-F238E27FC236}">
                <a16:creationId xmlns:a16="http://schemas.microsoft.com/office/drawing/2014/main" id="{5F55A99C-98E8-4C1B-8FD6-1B6EC6D9DEF8}"/>
              </a:ext>
            </a:extLst>
          </p:cNvPr>
          <p:cNvSpPr>
            <a:spLocks noGrp="1"/>
          </p:cNvSpPr>
          <p:nvPr>
            <p:ph idx="1"/>
          </p:nvPr>
        </p:nvSpPr>
        <p:spPr>
          <a:xfrm>
            <a:off x="1752600" y="2362200"/>
            <a:ext cx="7620000" cy="4800600"/>
          </a:xfrm>
        </p:spPr>
        <p:txBody>
          <a:bodyPr>
            <a:normAutofit fontScale="85000" lnSpcReduction="10000"/>
          </a:bodyPr>
          <a:lstStyle/>
          <a:p>
            <a:r>
              <a:rPr lang="en-GB" b="1" dirty="0"/>
              <a:t>When and how to comment in Python</a:t>
            </a:r>
          </a:p>
          <a:p>
            <a:r>
              <a:rPr lang="en-GB" dirty="0"/>
              <a:t>Some common and useful captions to add to your code include:</a:t>
            </a:r>
          </a:p>
          <a:p>
            <a:pPr lvl="1"/>
            <a:r>
              <a:rPr lang="en-GB" dirty="0"/>
              <a:t>A little bit about </a:t>
            </a:r>
            <a:r>
              <a:rPr lang="en-GB" dirty="0">
                <a:hlinkClick r:id="rId2">
                  <a:extLst>
                    <a:ext uri="{A12FA001-AC4F-418D-AE19-62706E023703}">
                      <ahyp:hlinkClr xmlns:ahyp="http://schemas.microsoft.com/office/drawing/2018/hyperlinkcolor" val="tx"/>
                    </a:ext>
                  </a:extLst>
                </a:hlinkClick>
              </a:rPr>
              <a:t>any new function</a:t>
            </a:r>
            <a:r>
              <a:rPr lang="en-GB" dirty="0"/>
              <a:t> and what it does</a:t>
            </a:r>
          </a:p>
          <a:p>
            <a:pPr lvl="1"/>
            <a:r>
              <a:rPr lang="en-GB" dirty="0"/>
              <a:t>An explanation of what a variable or set of variables are for</a:t>
            </a:r>
          </a:p>
          <a:p>
            <a:pPr lvl="1"/>
            <a:r>
              <a:rPr lang="en-GB" dirty="0"/>
              <a:t>Explaining why you have done something a certain way (if it is not obvious)</a:t>
            </a:r>
          </a:p>
          <a:p>
            <a:pPr lvl="1"/>
            <a:r>
              <a:rPr lang="en-GB" dirty="0"/>
              <a:t>Highlighting key and important parts of your code</a:t>
            </a:r>
          </a:p>
          <a:p>
            <a:pPr lvl="1"/>
            <a:r>
              <a:rPr lang="en-GB" dirty="0"/>
              <a:t>Providing warnings</a:t>
            </a:r>
          </a:p>
          <a:p>
            <a:r>
              <a:rPr lang="en-GB" dirty="0"/>
              <a:t>Some useful tips for keeping comments helpful rather than distracting:</a:t>
            </a:r>
          </a:p>
          <a:p>
            <a:pPr lvl="1"/>
            <a:r>
              <a:rPr lang="en-GB" dirty="0"/>
              <a:t>Keep comments succinct and no longer than necessary – be respectful of your reader’s time!</a:t>
            </a:r>
          </a:p>
          <a:p>
            <a:pPr lvl="1"/>
            <a:r>
              <a:rPr lang="en-GB" dirty="0"/>
              <a:t>Avoid comments that state the obvious; don’t </a:t>
            </a:r>
            <a:r>
              <a:rPr lang="en-GB" b="1" dirty="0"/>
              <a:t>over </a:t>
            </a:r>
            <a:r>
              <a:rPr lang="en-GB" dirty="0"/>
              <a:t>comment</a:t>
            </a:r>
          </a:p>
          <a:p>
            <a:pPr lvl="1"/>
            <a:r>
              <a:rPr lang="en-GB" dirty="0"/>
              <a:t>Don’t just explain </a:t>
            </a:r>
            <a:r>
              <a:rPr lang="en-GB" b="1" dirty="0"/>
              <a:t>what </a:t>
            </a:r>
            <a:r>
              <a:rPr lang="en-GB" dirty="0"/>
              <a:t>something does: explain </a:t>
            </a:r>
            <a:r>
              <a:rPr lang="en-GB" b="1" dirty="0"/>
              <a:t>why </a:t>
            </a:r>
            <a:r>
              <a:rPr lang="en-GB" dirty="0"/>
              <a:t>you put it there and why it’s important</a:t>
            </a:r>
          </a:p>
          <a:p>
            <a:pPr lvl="1"/>
            <a:r>
              <a:rPr lang="en-GB" dirty="0"/>
              <a:t>Be polite and friendly! Absolutely do not use comments to shame other coders. That’s a quick way to become the least popular person on your team.</a:t>
            </a:r>
          </a:p>
          <a:p>
            <a:endParaRPr lang="en-GB" dirty="0"/>
          </a:p>
        </p:txBody>
      </p:sp>
      <p:sp>
        <p:nvSpPr>
          <p:cNvPr id="4" name="TextBox 3">
            <a:extLst>
              <a:ext uri="{FF2B5EF4-FFF2-40B4-BE49-F238E27FC236}">
                <a16:creationId xmlns:a16="http://schemas.microsoft.com/office/drawing/2014/main" id="{741C1E9C-FB48-488B-AAA6-ED7518D64ACF}"/>
              </a:ext>
            </a:extLst>
          </p:cNvPr>
          <p:cNvSpPr txBox="1"/>
          <p:nvPr/>
        </p:nvSpPr>
        <p:spPr>
          <a:xfrm>
            <a:off x="1970623" y="1676400"/>
            <a:ext cx="7183954" cy="369332"/>
          </a:xfrm>
          <a:prstGeom prst="rect">
            <a:avLst/>
          </a:prstGeom>
          <a:noFill/>
        </p:spPr>
        <p:txBody>
          <a:bodyPr wrap="none" rtlCol="0">
            <a:spAutoFit/>
          </a:bodyPr>
          <a:lstStyle/>
          <a:p>
            <a:r>
              <a:rPr lang="en-GB" dirty="0"/>
              <a:t>https://www.androidauthority.com/how-to-comment-in-python-1138055/</a:t>
            </a:r>
          </a:p>
        </p:txBody>
      </p:sp>
    </p:spTree>
    <p:extLst>
      <p:ext uri="{BB962C8B-B14F-4D97-AF65-F5344CB8AC3E}">
        <p14:creationId xmlns:p14="http://schemas.microsoft.com/office/powerpoint/2010/main" val="3620735723"/>
      </p:ext>
    </p:extLst>
  </p:cSld>
  <p:clrMapOvr>
    <a:masterClrMapping/>
  </p:clrMapOvr>
  <mc:AlternateContent xmlns:mc="http://schemas.openxmlformats.org/markup-compatibility/2006" xmlns:p14="http://schemas.microsoft.com/office/powerpoint/2010/main">
    <mc:Choice Requires="p14">
      <p:transition spd="slow" p14:dur="2000" advTm="25267"/>
    </mc:Choice>
    <mc:Fallback xmlns="">
      <p:transition spd="slow" advTm="2526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D6EB-51FE-4616-BA66-127619924114}"/>
              </a:ext>
            </a:extLst>
          </p:cNvPr>
          <p:cNvSpPr>
            <a:spLocks noGrp="1"/>
          </p:cNvSpPr>
          <p:nvPr>
            <p:ph type="title"/>
          </p:nvPr>
        </p:nvSpPr>
        <p:spPr/>
        <p:txBody>
          <a:bodyPr/>
          <a:lstStyle/>
          <a:p>
            <a:r>
              <a:rPr lang="en-GB" dirty="0">
                <a:solidFill>
                  <a:schemeClr val="tx1"/>
                </a:solidFill>
              </a:rPr>
              <a:t>Before you start</a:t>
            </a:r>
          </a:p>
        </p:txBody>
      </p:sp>
      <p:sp>
        <p:nvSpPr>
          <p:cNvPr id="3" name="Content Placeholder 2">
            <a:extLst>
              <a:ext uri="{FF2B5EF4-FFF2-40B4-BE49-F238E27FC236}">
                <a16:creationId xmlns:a16="http://schemas.microsoft.com/office/drawing/2014/main" id="{26E95E42-2484-4607-B880-6595C0F89B1A}"/>
              </a:ext>
            </a:extLst>
          </p:cNvPr>
          <p:cNvSpPr>
            <a:spLocks noGrp="1"/>
          </p:cNvSpPr>
          <p:nvPr>
            <p:ph idx="1"/>
          </p:nvPr>
        </p:nvSpPr>
        <p:spPr/>
        <p:txBody>
          <a:bodyPr/>
          <a:lstStyle/>
          <a:p>
            <a:endParaRPr lang="en-GB" dirty="0"/>
          </a:p>
          <a:p>
            <a:r>
              <a:rPr lang="en-GB" dirty="0"/>
              <a:t>Understand the key programming concepts</a:t>
            </a:r>
          </a:p>
          <a:p>
            <a:pPr lvl="1"/>
            <a:r>
              <a:rPr lang="en-GB" dirty="0"/>
              <a:t>Variables, if, loops, lists, functions,  files</a:t>
            </a:r>
          </a:p>
          <a:p>
            <a:endParaRPr lang="en-GB" dirty="0"/>
          </a:p>
          <a:p>
            <a:r>
              <a:rPr lang="en-GB" dirty="0"/>
              <a:t>Complete the worksheets</a:t>
            </a:r>
          </a:p>
          <a:p>
            <a:endParaRPr lang="en-GB" dirty="0"/>
          </a:p>
          <a:p>
            <a:r>
              <a:rPr lang="en-GB" dirty="0"/>
              <a:t>Understand the Assignment brief</a:t>
            </a:r>
          </a:p>
          <a:p>
            <a:endParaRPr lang="en-GB" dirty="0"/>
          </a:p>
        </p:txBody>
      </p:sp>
    </p:spTree>
    <p:extLst>
      <p:ext uri="{BB962C8B-B14F-4D97-AF65-F5344CB8AC3E}">
        <p14:creationId xmlns:p14="http://schemas.microsoft.com/office/powerpoint/2010/main" val="2203034967"/>
      </p:ext>
    </p:extLst>
  </p:cSld>
  <p:clrMapOvr>
    <a:masterClrMapping/>
  </p:clrMapOvr>
  <mc:AlternateContent xmlns:mc="http://schemas.openxmlformats.org/markup-compatibility/2006" xmlns:p14="http://schemas.microsoft.com/office/powerpoint/2010/main">
    <mc:Choice Requires="p14">
      <p:transition spd="slow" p14:dur="2000" advTm="25076"/>
    </mc:Choice>
    <mc:Fallback xmlns="">
      <p:transition spd="slow" advTm="2507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D6EB-51FE-4616-BA66-127619924114}"/>
              </a:ext>
            </a:extLst>
          </p:cNvPr>
          <p:cNvSpPr>
            <a:spLocks noGrp="1"/>
          </p:cNvSpPr>
          <p:nvPr>
            <p:ph type="title"/>
          </p:nvPr>
        </p:nvSpPr>
        <p:spPr>
          <a:xfrm>
            <a:off x="2590800" y="2895600"/>
            <a:ext cx="7620000" cy="1143000"/>
          </a:xfrm>
        </p:spPr>
        <p:txBody>
          <a:bodyPr/>
          <a:lstStyle/>
          <a:p>
            <a:r>
              <a:rPr lang="en-GB" sz="7200" dirty="0">
                <a:solidFill>
                  <a:schemeClr val="tx1"/>
                </a:solidFill>
              </a:rPr>
              <a:t>Best of Luck!</a:t>
            </a:r>
          </a:p>
        </p:txBody>
      </p:sp>
    </p:spTree>
    <p:extLst>
      <p:ext uri="{BB962C8B-B14F-4D97-AF65-F5344CB8AC3E}">
        <p14:creationId xmlns:p14="http://schemas.microsoft.com/office/powerpoint/2010/main" val="623114661"/>
      </p:ext>
    </p:extLst>
  </p:cSld>
  <p:clrMapOvr>
    <a:masterClrMapping/>
  </p:clrMapOvr>
  <mc:AlternateContent xmlns:mc="http://schemas.openxmlformats.org/markup-compatibility/2006" xmlns:p14="http://schemas.microsoft.com/office/powerpoint/2010/main">
    <mc:Choice Requires="p14">
      <p:transition spd="slow" p14:dur="2000" advTm="395"/>
    </mc:Choice>
    <mc:Fallback xmlns="">
      <p:transition spd="slow" advTm="395"/>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2386</TotalTime>
  <Words>745</Words>
  <Application>Microsoft Office PowerPoint</Application>
  <PresentationFormat>Widescreen</PresentationFormat>
  <Paragraphs>118</Paragraphs>
  <Slides>11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Calibri</vt:lpstr>
      <vt:lpstr>Calibri Light</vt:lpstr>
      <vt:lpstr>Cambria</vt:lpstr>
      <vt:lpstr>Courier New</vt:lpstr>
      <vt:lpstr>tahoma</vt:lpstr>
      <vt:lpstr>Office Theme</vt:lpstr>
      <vt:lpstr>Adjacency</vt:lpstr>
      <vt:lpstr>Biodiversity Assignment</vt:lpstr>
      <vt:lpstr>Living Planet Index (LPI) 1970 – 2018*</vt:lpstr>
      <vt:lpstr>Assessing Biodiversity </vt:lpstr>
      <vt:lpstr>Data</vt:lpstr>
      <vt:lpstr>CalculateDistance</vt:lpstr>
      <vt:lpstr>KML files</vt:lpstr>
      <vt:lpstr>PowerPoint Presentation</vt:lpstr>
      <vt:lpstr>Code commenting</vt:lpstr>
      <vt:lpstr>How to comment in Python – Tips and best practices </vt:lpstr>
      <vt:lpstr>Before you start</vt:lpstr>
      <vt:lpstr>Best of Luck!</vt:lpstr>
    </vt:vector>
  </TitlesOfParts>
  <Company>University of Reading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Assessment</dc:title>
  <dc:creator>Andrew Meade</dc:creator>
  <cp:lastModifiedBy>Andrew Meade</cp:lastModifiedBy>
  <cp:revision>51</cp:revision>
  <dcterms:created xsi:type="dcterms:W3CDTF">2015-02-24T17:07:23Z</dcterms:created>
  <dcterms:modified xsi:type="dcterms:W3CDTF">2022-02-23T12:21:28Z</dcterms:modified>
</cp:coreProperties>
</file>